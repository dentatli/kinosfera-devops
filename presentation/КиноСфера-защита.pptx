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9d65e19d64522" /><Relationship Type="http://schemas.openxmlformats.org/officeDocument/2006/relationships/extended-properties" Target="/docProps/app.xml" Id="R9ca5b7b1bb894fbb" /><Relationship Type="http://schemas.openxmlformats.org/officeDocument/2006/relationships/officeDocument" Target="/ppt/presentation.xml" Id="Rbb65c4e7523e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b3e3d2180499d"/>
  </p:sldMasterIdLst>
  <p:notesMasterIdLst>
    <p:notesMasterId xmlns:r="http://schemas.openxmlformats.org/officeDocument/2006/relationships" r:id="R0ce32b5c23b244ce"/>
  </p:notesMasterIdLst>
  <p:sldIdLst>
    <p:sldId xmlns:r="http://schemas.openxmlformats.org/officeDocument/2006/relationships" id="256" r:id="R9c08b8061c214b37"/>
    <p:sldId xmlns:r="http://schemas.openxmlformats.org/officeDocument/2006/relationships" id="257" r:id="R997cb25c252340bf"/>
    <p:sldId xmlns:r="http://schemas.openxmlformats.org/officeDocument/2006/relationships" id="258" r:id="Read507b4ab134cb3"/>
    <p:sldId xmlns:r="http://schemas.openxmlformats.org/officeDocument/2006/relationships" id="259" r:id="R16f07e75b7354ac0"/>
    <p:sldId xmlns:r="http://schemas.openxmlformats.org/officeDocument/2006/relationships" id="260" r:id="R31a6a08c33ae4692"/>
    <p:sldId xmlns:r="http://schemas.openxmlformats.org/officeDocument/2006/relationships" id="261" r:id="R196c6cb55811482c"/>
    <p:sldId xmlns:r="http://schemas.openxmlformats.org/officeDocument/2006/relationships" id="262" r:id="R5bac171536374db0"/>
    <p:sldId xmlns:r="http://schemas.openxmlformats.org/officeDocument/2006/relationships" id="263" r:id="Redf2061ebe3a4b3f"/>
    <p:sldId xmlns:r="http://schemas.openxmlformats.org/officeDocument/2006/relationships" id="264" r:id="R5b9bbf5c4eb14e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accfae4c94d4f" /><Relationship Type="http://schemas.openxmlformats.org/officeDocument/2006/relationships/slideMaster" Target="/ppt/slideMasters/slideMaster1.xml" Id="R038b3e3d2180499d" /><Relationship Type="http://schemas.openxmlformats.org/officeDocument/2006/relationships/notesMaster" Target="/ppt/notesMasters/notesMaster1.xml" Id="R0ce32b5c23b244ce" /><Relationship Type="http://schemas.openxmlformats.org/officeDocument/2006/relationships/presProps" Target="/ppt/presProps.xml" Id="R5a19d40f9c904cfb" /><Relationship Type="http://schemas.openxmlformats.org/officeDocument/2006/relationships/tableStyles" Target="/ppt/tableStyles.xml" Id="Reb5d8dc5b13c41f1" /><Relationship Type="http://schemas.openxmlformats.org/officeDocument/2006/relationships/slide" Target="/ppt/slides/slide1.xml" Id="R9c08b8061c214b37" /><Relationship Type="http://schemas.openxmlformats.org/officeDocument/2006/relationships/slide" Target="/ppt/slides/slide2.xml" Id="R997cb25c252340bf" /><Relationship Type="http://schemas.openxmlformats.org/officeDocument/2006/relationships/slide" Target="/ppt/slides/slide3.xml" Id="Read507b4ab134cb3" /><Relationship Type="http://schemas.openxmlformats.org/officeDocument/2006/relationships/slide" Target="/ppt/slides/slide4.xml" Id="R16f07e75b7354ac0" /><Relationship Type="http://schemas.openxmlformats.org/officeDocument/2006/relationships/slide" Target="/ppt/slides/slide5.xml" Id="R31a6a08c33ae4692" /><Relationship Type="http://schemas.openxmlformats.org/officeDocument/2006/relationships/slide" Target="/ppt/slides/slide6.xml" Id="R196c6cb55811482c" /><Relationship Type="http://schemas.openxmlformats.org/officeDocument/2006/relationships/slide" Target="/ppt/slides/slide7.xml" Id="R5bac171536374db0" /><Relationship Type="http://schemas.openxmlformats.org/officeDocument/2006/relationships/slide" Target="/ppt/slides/slide8.xml" Id="Redf2061ebe3a4b3f" /><Relationship Type="http://schemas.openxmlformats.org/officeDocument/2006/relationships/slide" Target="/ppt/slides/slide9.xml" Id="R5b9bbf5c4eb1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90fcb825d942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КиноСфера">
  <a:themeElements>
    <a:clrScheme name="КиноСфера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КиноСфер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68e27700b426c" /><Relationship Type="http://schemas.openxmlformats.org/officeDocument/2006/relationships/notesMaster" Target="/ppt/notesMasters/notesMaster1.xml" Id="Rf0aa24bb16db4d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2b1fc811048f8" /><Relationship Type="http://schemas.openxmlformats.org/officeDocument/2006/relationships/notesMaster" Target="/ppt/notesMasters/notesMaster1.xml" Id="R39a1caafbe41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82c941d4e944cf" /><Relationship Type="http://schemas.openxmlformats.org/officeDocument/2006/relationships/notesMaster" Target="/ppt/notesMasters/notesMaster1.xml" Id="R263841fb90c5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c3dedd2354012" /><Relationship Type="http://schemas.openxmlformats.org/officeDocument/2006/relationships/notesMaster" Target="/ppt/notesMasters/notesMaster1.xml" Id="Ra63a37e497fb41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c21f82046403b" /><Relationship Type="http://schemas.openxmlformats.org/officeDocument/2006/relationships/notesMaster" Target="/ppt/notesMasters/notesMaster1.xml" Id="Rd828326876ca46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e8eaf96184701" /><Relationship Type="http://schemas.openxmlformats.org/officeDocument/2006/relationships/notesMaster" Target="/ppt/notesMasters/notesMaster1.xml" Id="Rb8d33e5a44f84e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952a223b964365" /><Relationship Type="http://schemas.openxmlformats.org/officeDocument/2006/relationships/notesMaster" Target="/ppt/notesMasters/notesMaster1.xml" Id="Raf40373dc439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ae6d6528c34e25" /><Relationship Type="http://schemas.openxmlformats.org/officeDocument/2006/relationships/notesMaster" Target="/ppt/notesMasters/notesMaster1.xml" Id="Rc4ef3ca544f8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7d7f1306754027" /><Relationship Type="http://schemas.openxmlformats.org/officeDocument/2006/relationships/notesMaster" Target="/ppt/notesMasters/notesMaster1.xml" Id="R760f6900852e43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КиноСфера — 0:00–0:40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развернул готовый Linux-бинарник bingo как API истории киносеансов. Основная задача — обеспечить работу сервиса при отказе одного экземпляра приложения и восстановить этот экземпляр автоматически.</a:t>
            </a:r>
          </a:p>
          <a:p xmlns:a="http://schemas.openxmlformats.org/drawingml/2006/main">
            <a:r>
              <a:t> В решении две реплики приложения, PostgreSQL, балансировка, HTTPS, HTTP/3 и мониторинг. Сервис доступен из интернета. Внешний checker прошёл 20 из 20 тестов. Реальную работу QUIC я дополнительно проверил отдельным клиентом с ноутбука через мобильную сеть.</a:t>
            </a:r>
          </a:p>
          <a:p xmlns:a="http://schemas.openxmlformats.org/drawingml/2006/main">
            <a:r>
              <a:t> Дальше покажу путь запроса, обнаруженные проблемы и способы их решения, затем результаты проверки и автоматизацию установки.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 и границы решения — 0:40–1:30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заданию отказ одной реплики должен проходить незаметно для клиентов, а восстановление занимать меньше минуты. При двух работающих репликах нужны 180 запросов в секунду в течение минуты и стабильные 60 запросов в секунду. Отдельно проверяются пять профилей при 120 RPS: p90 меньше 400 миллисекунд и не больше одного процента ошибок.</a:t>
            </a:r>
          </a:p>
          <a:p xmlns:a="http://schemas.openxmlformats.org/drawingml/2006/main">
            <a:r>
              <a:t> p90 означает, что 90 процентов измеренных задержек не превышают указанное значение. Ошибки считаются отдельно, поэтому быстрые успешные ответы сами по себе недостаточны для прохождения проверки.</a:t>
            </a:r>
          </a:p>
          <a:p xmlns:a="http://schemas.openxmlformats.org/drawingml/2006/main">
            <a:r>
              <a:t> Сразу обозначу границу решения: все компоненты находятся на одной Ubuntu. Я обеспечиваю восстановление реплики приложения. Общая PostgreSQL, физический хост, роутер и домашний интернет остаются точками отказа.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— 1:30–2:50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Покажу запрос слева направо. Клиент обращается к публичному домену. Роутер направляет TCP 80 и 443, а также UDP 443 на Ubuntu в Hyper-V.</a:t>
            </a:r>
          </a:p>
          <a:p xmlns:a="http://schemas.openxmlformats.org/drawingml/2006/main">
            <a:r>
              <a:t> Первым запрос принимает Nginx. Он завершает TLS, обслуживает HTTP/3 и кеширует только long_dummy. Обычные API проходят дальше без кеша. Следующий компонент — HAProxy. Он распределяет запросы round-robin между двумя bingo и активно проверяет их здоровье через ping.</a:t>
            </a:r>
          </a:p>
          <a:p xmlns:a="http://schemas.openxmlformats.org/drawingml/2006/main">
            <a:r>
              <a:t> Обе реплики используют одну PostgreSQL. Приложение запускается в контейнере под UID 10001, а не от root. Для каждой реплики установлен лимит памяти 2 ГБ. Внутренние порты приложений, БД и мониторинга не проброшены на роутере.</a:t>
            </a:r>
          </a:p>
          <a:p xmlns:a="http://schemas.openxmlformats.org/drawingml/2006/main">
            <a:r>
              <a:t> Nginx отвечает за входной протокол и кеш, HAProxy — за проверки здоровья и поведение при отказах. Это две разные роли, поэтому я сохранил оба компонента.</a:t>
            </a:r>
          </a:p>
          <a:p xmlns:a="http://schemas.openxmlformats.org/drawingml/2006/main">
            <a:r>
              <a:t> Метрики идут отдельным потоком: события запросов из Nginx получает экспортёр, Prometheus опрашивает его и HAProxy, Grafana показывает графики.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Бинарник и узкие места — 2:50–4:10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 развёртывания нужно было разобраться с поведением готового бинарника. Он запрещает запуск от root, использует фиксированный путь конфигурации и вычисляет порт по student_email. Поэтому порт рассчитывается при установке, а конфигурация HAProxy формируется с тем же значением.</a:t>
            </a:r>
          </a:p>
          <a:p xmlns:a="http://schemas.openxmlformats.org/drawingml/2006/main">
            <a:r>
              <a:t> При старте обнаружился запрос к 8.8.8.8 на TCP-порт 80, который задерживал инициализацию. Я добавил узкое правило REJECT только для этого направления из Docker-сети проекта. Оно быстро отклоняет соединение, не подменяя HTTP-ответ. Правило восстанавливается отдельной systemd-службой.</a:t>
            </a:r>
          </a:p>
          <a:p xmlns:a="http://schemas.openxmlformats.org/drawingml/2006/main">
            <a:r>
              <a:t> Другая проблема — запросы к PostgreSQL без нужных индексов. Подготовка данных создала 29 019 фильмов, 500 тысяч клиентов и 5 миллионов сессий. Для поиска по id добавлены уникальные индексы, для поисковых полей и связей — обычные. Затем выполнен VACUUM ANALYZE, чтобы обновить статистику планировщика.</a:t>
            </a:r>
          </a:p>
          <a:p xmlns:a="http://schemas.openxmlformats.org/drawingml/2006/main">
            <a:r>
              <a:t> В одиночном SQL-замере поиск по id изменился с 39,567 до 0,082 миллисекунды. Эти числа показывают эффект индекса, но не являются HTTP-задержкой под нагрузкой.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Восстановление реплик — 4:10–5:35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Здесь важно разделить обнаружение отказа и восстановление процесса. HAProxy каждую секунду проверяет ping и исключает нездоровую реплику из балансировки. Это позволяет направлять новые запросы на оставшийся экземпляр.</a:t>
            </a:r>
          </a:p>
          <a:p xmlns:a="http://schemas.openxmlformats.org/drawingml/2006/main">
            <a:r>
              <a:t> Docker healthcheck отмечает состояние контейнера, но сам по себе не перезапускает живой зависший процесс. Поэтому внутри контейнера работает watchdog: после трёх неудачных ping он завершает приложение. Docker с политикой unless-stopped запускает контейнер снова. На старте есть пауза для инициализации.</a:t>
            </a:r>
          </a:p>
          <a:p xmlns:a="http://schemas.openxmlformats.org/drawingml/2006/main">
            <a:r>
              <a:t> GET и HEAD допускают ограниченные повторы на другой реплике при ошибках. Ответы POST и DELETE автоматически не переигрываются: первая попытка могла уже записать данные, даже если клиент не получил ответ. Для безопасных повторов записей понадобились бы идемпотентность и поддержка ключей на уровне приложения.</a:t>
            </a:r>
          </a:p>
          <a:p xmlns:a="http://schemas.openxmlformats.org/drawingml/2006/main">
            <a:r>
              <a:t> Локально я проверил по очереди обе реплики: завершение процесса и состояние HTTP 500. Одновременно шло 60 RPS на настоящий db_dummy. Ошибок у клиента не было. Максимальное восстановление — 0,913 секунды после завершения процесса и 7,351 секунды при HTTP 500. Внешние crash и OOM-тесты показали около 4,15 секунды.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Нагрузка — 5:35–6:55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таблице показаны локальные профили. Генератор задаёт фиксированный поток, а не просто отправляет следующий запрос после завершения предыдущего. Ожидание в очереди генератора включается в задержку. Это помогает увидеть перегрузку вместо искусственно хороших результатов.</a:t>
            </a:r>
          </a:p>
          <a:p xmlns:a="http://schemas.openxmlformats.org/drawingml/2006/main">
            <a:r>
              <a:t> Пять профилей шли по 30 секунд при 120 RPS: по 3600 запросов на профиль. Для operation и db_dummy p90 около 102 миллисекунд, для трёх API по id — около 1–1,4 миллисекунды. Во всех этих выборках ошибок нет.</a:t>
            </a:r>
          </a:p>
          <a:p xmlns:a="http://schemas.openxmlformats.org/drawingml/2006/main">
            <a:r>
              <a:t> Пиковый профиль 180 RPS длился минуту и дал 10 800 запросов. Стабильный профиль 60 RPS тоже длился минуту. Оба прошли без ошибок.</a:t>
            </a:r>
          </a:p>
          <a:p xmlns:a="http://schemas.openxmlformats.org/drawingml/2006/main">
            <a:r>
              <a:t> Локальные и внешние числа я разделяю. Внешний checker задавал цель 200 RPS, но фактически достиг 182,4 RPS: p90 300,46 миллисекунды, ошибок ноль. Он отправил 600 запросов, поэтому это короткая внешняя выборка. Длительный профиль 180 RPS я подтвердил отдельно локальным тестом.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Дополнительные требования — 6:55–8:05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Сервис доступен по доменному имени через HTTP и HTTPS. HTTP не перенаправляется на HTTPS, как требует задание. Сертификат самоподписанный, что тоже разрешено условиями. При проверке клиент явно доверяет именно этому сертификату.</a:t>
            </a:r>
          </a:p>
          <a:p xmlns:a="http://schemas.openxmlformats.org/drawingml/2006/main">
            <a:r>
              <a:t> Бонус HTTP/3 в checker проходит по заголовку Alt-Svc. Поэтому я сделал отдельную проверку настоящего QUIC из мобильной сети, с выключенным Wi-Fi на телефоне и без VPN. Клиент согласовал h3, получил 200 pong и проверил сертификат. Перехода на HTTP/2 не было. Проверка заняла 1,375 секунды; сравнение скорости HTTP/2 и HTTP/3 я не проводил.</a:t>
            </a:r>
          </a:p>
          <a:p xmlns:a="http://schemas.openxmlformats.org/drawingml/2006/main">
            <a:r>
              <a:t> Кеш включён только для long_dummy. TTL — 50 секунд, выдача просроченных ответов отключена. Локальная проверка длилась 65 секунд: 96,825 процента ответов быстрее секунды, максимальный возраст ответа 50,149 секунды.</a:t>
            </a:r>
          </a:p>
          <a:p xmlns:a="http://schemas.openxmlformats.org/drawingml/2006/main">
            <a:r>
              <a:t> Grafana показывает RPS, ошибки, p90 и состояние реплик. Точные доли ошибок нагрузочного теста беру из отчёта клиента, а не только из графиков.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Выбор инфраструктуры — 8:05–8:55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Первоначально стенд работал в VirtualBox, где возникали общие паузы ядра на 25–59 секунд. Они затрагивали сразу обе реплики. Поэтому основной Linux перенесён в Hyper-V, после чего локальная приёмка прошла.</a:t>
            </a:r>
          </a:p>
          <a:p xmlns:a="http://schemas.openxmlformats.org/drawingml/2006/main">
            <a:r>
              <a:t> Затем публичный вход был организован через небольшой VPS и обратный SSH-туннель. Из отдельных сетей соединения до VPS не доходили. Точный участок проблемы установить не удалось, поэтому я не называю виновником конкретного оператора.</a:t>
            </a:r>
          </a:p>
          <a:p xmlns:a="http://schemas.openxmlformats.org/drawingml/2006/main">
            <a:r>
              <a:t> Итоговая схема — домашний белый IP и прямой проброс портов. После настройки DNS и HTTPS первый полный прогон дал 19 из 20 из-за одного неполученного ответа. Повтор без изменения конфигурации прошёл 20 из 20. VPS в итоговом маршруте не участвует.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Установка и итог — 8:55–10:00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Код и конфигурации находятся в репозитории. Установка автоматизирована Ansible: в inventory задаются адрес Ubuntu, домен и email. Контроллер можно запустить прямо на сервере или использовать SSH с отдельной Linux-машины.</a:t>
            </a:r>
          </a:p>
          <a:p xmlns:a="http://schemas.openxmlformats.org/drawingml/2006/main">
            <a:r>
              <a:t> Playbook подготавливает Ubuntu, устанавливает Docker и Compose, включает синхронизацию времени и доставляет файлы. Затем вызывает install.sh: тот генерирует конфигурации, создаёт сертификат и запускает сервисы. Пароли случайные. Данные и индексы готовятся один раз, повторный запуск сохраняет БД и пароли.</a:t>
            </a:r>
          </a:p>
          <a:p xmlns:a="http://schemas.openxmlformats.org/drawingml/2006/main">
            <a:r>
              <a:t> Ansible проверен на действующем стенде: первый прогон без ошибок, второй — changed=0. Полную установку на совершенно пустой Ubuntu ещё предстоит проверить, поэтому я отделяю готовую автоматизацию от проверенного пути установки с нуля.</a:t>
            </a:r>
          </a:p>
          <a:p xmlns:a="http://schemas.openxmlformats.org/drawingml/2006/main">
            <a:r>
              <a:t> Итог: внешний checker 20 из 20, реальные нагрузочные и аварийные проверки, отдельно подтверждён внешний HTTP/3. Для дальнейшего повышения доступности нужны несколько хостов, резервирование PostgreSQL и входного прокси, резервные копии с проверкой восстановления и CI/CD.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67672094d43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4e0d8867143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43d61469f45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1b5a692c94d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793de7dc4142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baa92058041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BDB426-E2D8-4B3E-8E23-A292CBD52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D82B5D-7930-46F9-8598-975C0D9B60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242F4-1AD4-4433-9228-A9613A137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38490D-8F2F-4ED1-B416-9912D324F6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ACD758-6724-4C34-89C2-78463CCF4E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102468-2D21-4F99-808E-66C5302FB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D6D8E8-07C1-4A76-9051-3BC0849E5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F60270-5AFB-4622-A55A-4074D424AB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446830-86C1-4097-8E17-A5113B946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452679-521B-4D44-85E7-AAE0998633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2c6d6743254293" /><Relationship Type="http://schemas.openxmlformats.org/officeDocument/2006/relationships/slideLayout" Target="/ppt/slideLayouts/slideLayout1.xml" Id="R696120a2ca674114" /><Relationship Type="http://schemas.openxmlformats.org/officeDocument/2006/relationships/slideLayout" Target="/ppt/slideLayouts/slideLayout2.xml" Id="Re1c20cdab4994297" /><Relationship Type="http://schemas.openxmlformats.org/officeDocument/2006/relationships/slideLayout" Target="/ppt/slideLayouts/slideLayout3.xml" Id="R3a108edc35e74e65" /><Relationship Type="http://schemas.openxmlformats.org/officeDocument/2006/relationships/slideLayout" Target="/ppt/slideLayouts/slideLayout4.xml" Id="R94312a7789f44cf9" /><Relationship Type="http://schemas.openxmlformats.org/officeDocument/2006/relationships/slideLayout" Target="/ppt/slideLayouts/slideLayout5.xml" Id="R38cb455eb6fa4dfc" /><Relationship Type="http://schemas.openxmlformats.org/officeDocument/2006/relationships/slideLayout" Target="/ppt/slideLayouts/slideLayout6.xml" Id="R7a6cc24aec5c44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6120a2ca674114"/>
    <p:sldLayoutId xmlns:r="http://schemas.openxmlformats.org/officeDocument/2006/relationships" id="2147483650" r:id="Re1c20cdab4994297"/>
    <p:sldLayoutId xmlns:r="http://schemas.openxmlformats.org/officeDocument/2006/relationships" id="2147483651" r:id="R3a108edc35e74e65"/>
    <p:sldLayoutId xmlns:r="http://schemas.openxmlformats.org/officeDocument/2006/relationships" id="2147483652" r:id="R94312a7789f44cf9"/>
    <p:sldLayoutId xmlns:r="http://schemas.openxmlformats.org/officeDocument/2006/relationships" id="2147483653" r:id="R38cb455eb6fa4dfc"/>
    <p:sldLayoutId xmlns:r="http://schemas.openxmlformats.org/officeDocument/2006/relationships" id="2147483654" r:id="R7a6cc24aec5c44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КиноСфера">
  <a:themeElements>
    <a:clrScheme name="КиноСфера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КиноСфер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e0f83e168472e" /><Relationship Type="http://schemas.openxmlformats.org/officeDocument/2006/relationships/notesSlide" Target="/ppt/notesSlides/notesSlide1.xml" Id="R83492b5e8eef4c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72db7467143b0" /><Relationship Type="http://schemas.openxmlformats.org/officeDocument/2006/relationships/notesSlide" Target="/ppt/notesSlides/notesSlide2.xml" Id="Rf70103fe6b4440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77c50532cd4a92" /><Relationship Type="http://schemas.openxmlformats.org/officeDocument/2006/relationships/notesSlide" Target="/ppt/notesSlides/notesSlide3.xml" Id="R787991169e28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143b5f9ba45f3" /><Relationship Type="http://schemas.openxmlformats.org/officeDocument/2006/relationships/notesSlide" Target="/ppt/notesSlides/notesSlide4.xml" Id="Re82b54698a7444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1fff912f74f06" /><Relationship Type="http://schemas.openxmlformats.org/officeDocument/2006/relationships/notesSlide" Target="/ppt/notesSlides/notesSlide5.xml" Id="R2a20ab7788a34a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b4f1cdcf146b5" /><Relationship Type="http://schemas.openxmlformats.org/officeDocument/2006/relationships/notesSlide" Target="/ppt/notesSlides/notesSlide6.xml" Id="R44c89efb24f944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374e846b14cf4" /><Relationship Type="http://schemas.openxmlformats.org/officeDocument/2006/relationships/notesSlide" Target="/ppt/notesSlides/notesSlide7.xml" Id="R593549b799de4a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8374cd88d473c" /><Relationship Type="http://schemas.openxmlformats.org/officeDocument/2006/relationships/notesSlide" Target="/ppt/notesSlides/notesSlide8.xml" Id="R8d3a4838f9a242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6963370f247b6" /><Relationship Type="http://schemas.openxmlformats.org/officeDocument/2006/relationships/notesSlide" Target="/ppt/notesSlides/notesSlide9.xml" Id="R3d6384a32d8f42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BDB5F-5414-41F3-B975-88ABF790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КиноСфера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DAECA-1477-4741-8877-3DA6D05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450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Отказоустойчивая инсталляция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12FE8-2224-4CB7-8A3F-AED2A692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Денис Татлибаев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Итоговый проект DevOps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12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054217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7C804-2CCD-466D-847B-27016AB9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Требования и границы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110AC-D6B5-4FA7-8ADC-D0E86EE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D91"/>
                </a:solidFill>
                <a:latin typeface="Arial"/>
                <a:ea typeface="Arial"/>
                <a:cs typeface="Arial"/>
              </a:rPr>
              <a:t>Два приложения и восстановление менее минуты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3A094-D112-462E-AE65-D39CCB57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60 RPS постоянно, 180 RPS в течение минуты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120 RPS: p90 &lt; 400 мс, ошибки ≤ 1%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Исходные данные и настоящие ответы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A36D5-C9C2-4308-B0C6-06A6A7E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Общие точки отказа: основной хост, PostgreSQL, входной прокси и сеть</a:t>
            </a:r>
          </a:p>
        </p:txBody>
      </p:sp>
    </p:spTree>
    <p:extLst>
      <p:ext uri="{BB962C8B-B14F-4D97-AF65-F5344CB8AC3E}">
        <p14:creationId xmlns:p14="http://schemas.microsoft.com/office/powerpoint/2010/main" val="591150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BF7D8-61C6-4ACA-8B02-C0A892E6F71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182100" y="3238500"/>
            <a:ext cx="476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4BA22-2B3B-4D40-A453-E636C13BDEB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182100" y="2286000"/>
            <a:ext cx="4762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C37A3-9AF8-4192-ABDA-095EF84621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896100" y="3238500"/>
            <a:ext cx="476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1CDF1-32F1-4598-B9C8-54605A7315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896100" y="2286000"/>
            <a:ext cx="4762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755AA-4076-44EC-B0CB-0405D3FAC84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62475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E802A-8726-40BA-BC9C-7EB400817A7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D91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F9853-95CB-4D3A-AF82-6F8FEF6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Архитектура основного сервера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41691-0D3D-49D4-8297-38273614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Вход через Archer C80: TCP 80/443 и UDP 443 на Ubuntu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4CDE-DF8F-443B-800F-28AC4FC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32993-9C88-4C29-B4E7-E2D5DD9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Nginx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TLS и кеш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4F74F-43F3-4F17-B232-D4527572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14625"/>
            <a:ext cx="1857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HAProxy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/ping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66061-DA97-4481-A436-48B5313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6212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bingo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CABB7-FFFA-4CD0-80BE-3F984DD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48125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bingo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610D7-347D-4B08-A757-ABD1C068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14625"/>
            <a:ext cx="1924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7"/>
          </a:solidFill>
          <a:ln xmlns:a="http://schemas.openxmlformats.org/drawingml/2006/main" w="19050">
            <a:solidFill>
              <a:srgbClr val="167D91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43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805BF-8FC5-414F-A5E0-7627537D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События Nginx собирает экспортёр. Prometheus хранит метрики, Grafana показывает RPS и ошибки по путям.</a:t>
            </a:r>
          </a:p>
        </p:txBody>
      </p:sp>
    </p:spTree>
    <p:extLst>
      <p:ext uri="{BB962C8B-B14F-4D97-AF65-F5344CB8AC3E}">
        <p14:creationId xmlns:p14="http://schemas.microsoft.com/office/powerpoint/2010/main" val="706472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426F7-9606-4AE8-8E86-B2E55958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Исследование бинарника и узкие места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31FEF-AD8C-4619-8EE2-B13ECC9139F1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Наблюдение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Запрет запуска от root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UID 10001 в контейнере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Зависание на 8.8.8.8:80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Узкий REJECT для сети проекта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Seq Scan в PostgreSQL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Индексы id и поисковых полей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Паузы VirtualBox до 59 с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Перенос основного Linux в Hyper-V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5CF78-45C0-44C3-A4B7-BF1C23F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SQL по id: 39,567 мс до индекса, 0,082 мс после. Одиночные замеры.</a:t>
            </a:r>
          </a:p>
        </p:txBody>
      </p:sp>
    </p:spTree>
    <p:extLst>
      <p:ext uri="{BB962C8B-B14F-4D97-AF65-F5344CB8AC3E}">
        <p14:creationId xmlns:p14="http://schemas.microsoft.com/office/powerpoint/2010/main" val="17072962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590B8-94E0-41AD-B611-77F00368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Восстановление приложения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1CEC-0338-4EEC-8703-681261F7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/ping обнаруживает отказ. HAProxy исключает реплику.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Watchdog завершает процесс, Docker запускает его заново.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F1C50-0D2E-4BF7-BAAD-CE813745EC0A}"/>
              </a:ext>
            </a:extLst>
          </p:cNvPr>
          <p:cNvGraphicFramePr/>
          <p:nvPr/>
        </p:nvGraphicFramePr>
        <p:xfrm>
          <a:off xmlns:a="http://schemas.openxmlformats.org/drawingml/2006/main" x="609600" y="3524250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3429000"/>
                <a:gridCol w="3067050"/>
              </a:tblGrid>
              <a:tr h="6508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Сценарий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Макс. восстановление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при 60 RPS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Завершение процесса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0.913 с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HTTP 500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7.351 с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A3FFA-DA8E-402A-A1FC-D04DCA0F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Проверены app1 и app2 по отдельности. POST и DELETE не повторяются прокси.</a:t>
            </a:r>
          </a:p>
        </p:txBody>
      </p:sp>
    </p:spTree>
    <p:extLst>
      <p:ext uri="{BB962C8B-B14F-4D97-AF65-F5344CB8AC3E}">
        <p14:creationId xmlns:p14="http://schemas.microsoft.com/office/powerpoint/2010/main" val="2107459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9B783-55C1-446F-B0AD-8A2A7620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Нагрузка на основном сервере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15D7-F35B-4940-8D1C-E3E7C854CAD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1857375"/>
                <a:gridCol w="1905000"/>
                <a:gridCol w="1876425"/>
              </a:tblGrid>
              <a:tr h="5381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Профиль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Запросы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p90, мс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Ошибки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POST /operation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101.809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GET /db_dummy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102.273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GET /api/movie/1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1.226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GET /api/customer/1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1.159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GET /api/session/1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1.354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Пик 180 RPS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10800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102.234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Стабильно 60 RPS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3600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102.379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58A15-F886-4EA4-BA2E-4738247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120 RPS: предел p90 400 мс. Пик и стабильная нагрузка: по 60 секунд.</a:t>
            </a:r>
          </a:p>
        </p:txBody>
      </p:sp>
    </p:spTree>
    <p:extLst>
      <p:ext uri="{BB962C8B-B14F-4D97-AF65-F5344CB8AC3E}">
        <p14:creationId xmlns:p14="http://schemas.microsoft.com/office/powerpoint/2010/main" val="583204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0604B-9012-4FCE-9FF8-B59AC22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Задания со звёздочкой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116B0-A1CB-4A57-8778-AF0B84D8FEE4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7429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Возможность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114300" marR="114300" marT="95250" marB="95250" anchor="ctr">
                    <a:solidFill>
                      <a:srgbClr val="15243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Домен, HTTP и HTTPS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94-41-94-5.sslip.io, без редиректа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HTTP/3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Мобильная сеть: h3, 200 pong, TLS проверен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Кеш long_dummy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96.8% быстрее 1 с, возраст ≤ 50.149 с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Наблюдаемость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5243D"/>
                          </a:solidFill>
                          <a:latin typeface="Arial"/>
                          <a:ea typeface="Arial"/>
                          <a:cs typeface="Arial"/>
                        </a:rPr>
                        <a:t>RPS, ошибки, p90 и состояние реплик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5B4E7-EA7F-4236-AF0C-B5A6A4F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Checker: 3/3 бонуса. Внешний QUIC подтверждён реальным клиентом.</a:t>
            </a:r>
          </a:p>
        </p:txBody>
      </p:sp>
    </p:spTree>
    <p:extLst>
      <p:ext uri="{BB962C8B-B14F-4D97-AF65-F5344CB8AC3E}">
        <p14:creationId xmlns:p14="http://schemas.microsoft.com/office/powerpoint/2010/main" val="11647688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61F25-7A45-4789-9D30-859D8A30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Эволюция инфраструктуры и публичная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2BC75-4B30-4254-8AA1-8C50F1CD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75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VirtualBox: общие паузы ядра на 25–59 секунд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Hyper-V: данные сохранены, локальная приёмка прошла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VPS: сетевые потери. Итоговый вход: белый IP дома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8A1A8-61C9-4DD3-A9B4-8D0425B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D91"/>
                </a:solidFill>
                <a:latin typeface="Arial"/>
                <a:ea typeface="Arial"/>
                <a:cs typeface="Arial"/>
              </a:rPr>
              <a:t>Внешний checker: 20/20, 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723E0-7C09-4F15-B4D6-F8B9BEA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Нагрузка: 182,4 RPS, p90 300 мс, ошибок 0%.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Crash и OOM: восстановление около 4,15 с, без клиентских ошибок.</a:t>
            </a:r>
          </a:p>
        </p:txBody>
      </p:sp>
    </p:spTree>
    <p:extLst>
      <p:ext uri="{BB962C8B-B14F-4D97-AF65-F5344CB8AC3E}">
        <p14:creationId xmlns:p14="http://schemas.microsoft.com/office/powerpoint/2010/main" val="420836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64B0C-D1F5-4429-803D-842C5012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Развёртывание и результат сдачи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E748A-6A8E-419F-B27F-3B17BAAF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67D9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D91"/>
                </a:solidFill>
                <a:latin typeface="Arial"/>
                <a:ea typeface="Arial"/>
                <a:cs typeface="Arial"/>
              </a:rPr>
              <a:t>ansible-playbook -i inventory.yml site.yml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36637-CB6D-47E7-B933-D9BF26A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Ansible готовит Ubuntu и запускает Docker Compose.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243D"/>
                </a:solidFill>
                <a:latin typeface="Arial"/>
                <a:ea typeface="Arial"/>
                <a:cs typeface="Arial"/>
              </a:rPr>
              <a:t>Повторное развёртывание сохраняет БД и пароли.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44A5C-74A0-42D7-AAAC-58AB2F8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15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243D"/>
                </a:solidFill>
                <a:latin typeface="Arial"/>
                <a:ea typeface="Arial"/>
                <a:cs typeface="Arial"/>
              </a:rPr>
              <a:t>Публичная проверка завершена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820B8-61CE-4756-BC36-9094777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17/17 обязательных тестов и 3/3 бонуса.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Общая БД, физический хост и домашняя сеть остаются точками отказа.</a:t>
            </a:r>
          </a:p>
        </p:txBody>
      </p:sp>
    </p:spTree>
    <p:extLst>
      <p:ext uri="{BB962C8B-B14F-4D97-AF65-F5344CB8AC3E}">
        <p14:creationId xmlns:p14="http://schemas.microsoft.com/office/powerpoint/2010/main" val="1987059539"/>
      </p:ext>
    </p:extLst>
  </p:cSld>
</p:sld>
</file>

<file path=ppt/theme/theme1.xml><?xml version="1.0" encoding="utf-8"?>
<a:theme xmlns:a="http://schemas.openxmlformats.org/drawingml/2006/main" name="КиноСфера">
  <a:themeElements>
    <a:clrScheme name="КиноСфера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КиноСфера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2026-10-12T07:49:52.6910000Z</dcterms:created>
  <dcterms:modified xsi:type="dcterms:W3CDTF">2026-10-12T07:49:52.6910000Z</dcterms:modified>
</coreProperties>
</file>